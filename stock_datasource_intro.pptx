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1262" y="879574"/>
            <a:ext cx="5541327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A股赛博操盘手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809851" y="1905000"/>
            <a:ext cx="1524000" cy="50750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01262" y="2209651"/>
            <a:ext cx="55413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原生的 A 股智能投资助手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01262" y="2552551"/>
            <a:ext cx="55413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TuShare 构建的本地财经数据库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01262" y="2895451"/>
            <a:ext cx="55413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支持历史数据与实时数据的多 Agent 协同架构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01262" y="3238351"/>
            <a:ext cx="55413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专业级股票分析 · 智能选股 · 投资组合管理 · 策略回测 · AI 量化策略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33291" y="4343251"/>
            <a:ext cx="2730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Stock Trader for A-Share Market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核心特性一览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55550" y="853976"/>
            <a:ext cx="4365427" cy="888504"/>
          </a:xfrm>
          <a:prstGeom prst="roundRect">
            <a:avLst>
              <a:gd name="adj" fmla="val 7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79363" y="853976"/>
            <a:ext cx="0" cy="888504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0876" y="980926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个专业 AI Agent + 5 个安全中间件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0876" y="1272927"/>
            <a:ext cx="404164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多智能体协作架构，OrchestratorAgent 统一编排，智能意图识别与任务分发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5550" y="1869430"/>
            <a:ext cx="4365427" cy="888504"/>
          </a:xfrm>
          <a:prstGeom prst="roundRect">
            <a:avLst>
              <a:gd name="adj" fmla="val 7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79363" y="1869430"/>
            <a:ext cx="0" cy="888504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876" y="199638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77+ 数据采集插件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876" y="2288381"/>
            <a:ext cx="404164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 A 股 / 港股 / ETF / 指数 / 财报等全量数据，基于 TuShare/AKShare 多数据源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5550" y="2884884"/>
            <a:ext cx="4365427" cy="717203"/>
          </a:xfrm>
          <a:prstGeom prst="roundRect">
            <a:avLst>
              <a:gd name="adj" fmla="val 8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79363" y="2884884"/>
            <a:ext cx="0" cy="717203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876" y="3011835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全栈投资工具链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876" y="3303836"/>
            <a:ext cx="404164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智能选股 · K 线分析 · 策略回测 · 量化选股 · 财报分析 · 持仓管理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5550" y="3729038"/>
            <a:ext cx="4365427" cy="888504"/>
          </a:xfrm>
          <a:prstGeom prst="roundRect">
            <a:avLst>
              <a:gd name="adj" fmla="val 7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79363" y="3729038"/>
            <a:ext cx="0" cy="888504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876" y="3855988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多渠道交互能力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0876" y="4147989"/>
            <a:ext cx="404164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· Open API Gateway · PicoClaw 微信联动 · CLI · Web UI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5452"/>
          </a:xfrm>
          <a:prstGeom prst="rect">
            <a:avLst/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多智能体协作架构（18 个专业 Agent）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55452"/>
            <a:ext cx="9144000" cy="453926"/>
          </a:xfrm>
          <a:prstGeom prst="rect">
            <a:avLst/>
          </a:prstGeom>
          <a:solidFill>
            <a:srgbClr val="E8EC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7180" y="882402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用户输入 → OrchestratorAgent 编排器 → 意图识别 → 路由到专业 Agent → 工具调用 → 自然语言回复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4800" y="1361777"/>
            <a:ext cx="2019300" cy="2398216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2501" y="1838027"/>
            <a:ext cx="1663898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501" y="1514177"/>
            <a:ext cx="169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市场分析类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01" y="1958578"/>
            <a:ext cx="1663898" cy="142383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市场概览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技术分析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指数分析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EtfAgent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ETF 分析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76500" y="1361777"/>
            <a:ext cx="2019300" cy="2398216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54201" y="1838027"/>
            <a:ext cx="1663898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4201" y="1514177"/>
            <a:ext cx="169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选股研究类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4201" y="1958578"/>
            <a:ext cx="1663898" cy="161091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ScreenerAgent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智能选股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股财报分析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HKReportAgent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港股财报分析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知识库 (RAG)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48200" y="1361777"/>
            <a:ext cx="2019300" cy="2398216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825901" y="1838027"/>
            <a:ext cx="1663898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5901" y="1514177"/>
            <a:ext cx="169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交易决策类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5901" y="1958578"/>
            <a:ext cx="1663898" cy="161091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持仓管理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策略回测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TopListAgent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龙虎榜分析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NewsAnalystAgent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新闻分析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19900" y="1361777"/>
            <a:ext cx="2019300" cy="2398216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997601" y="1838027"/>
            <a:ext cx="166389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7601" y="1514177"/>
            <a:ext cx="169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系统支撑类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7601" y="1958578"/>
            <a:ext cx="1663898" cy="142383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用户记忆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DataManageAgent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数据管理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</a:t>
            </a:r>
            <a:pPr algn="l" indent="0" marL="0">
              <a:lnSpc>
                <a:spcPts val="1472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深度研究</a:t>
            </a:r>
            <a:endParaRPr lang="en-US" sz="950" dirty="0"/>
          </a:p>
          <a:p>
            <a:pPr algn="l" marL="101600" indent="-101600">
              <a:lnSpc>
                <a:spcPts val="1472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系列 / ChatAgent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安全中间件体系（5 大中间件）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30101" y="828675"/>
            <a:ext cx="8483798" cy="645616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802" y="97363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6297" y="1056084"/>
            <a:ext cx="1411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5752" y="955625"/>
            <a:ext cx="35828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CrossValidationMiddleware — 交叉验证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15752" y="1190476"/>
            <a:ext cx="3608701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 AI 输出一致性与准确性，多轮校验关键结论，防止幻觉输出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0101" y="1575792"/>
            <a:ext cx="8483798" cy="645616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802" y="17207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804" y="1803202"/>
            <a:ext cx="1299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15752" y="1702743"/>
            <a:ext cx="33843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GuardrailMiddleware — 安全护栏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15752" y="1937593"/>
            <a:ext cx="3410141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防止违规输出，过滤敏感信息，保障内容合规与用户隐私保护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0101" y="2322909"/>
            <a:ext cx="8483798" cy="645616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802" y="246786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5404" y="2550319"/>
            <a:ext cx="1431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15752" y="2449860"/>
            <a:ext cx="38265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LoopDetectionMiddleware — 循环检测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15752" y="2684711"/>
            <a:ext cx="3852348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防止 Agent 陷入死循环，自动中断异常执行路径，保障系统稳定运行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0101" y="3070027"/>
            <a:ext cx="8483798" cy="645616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7802" y="321498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3349" y="3297436"/>
            <a:ext cx="1675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15752" y="3196977"/>
            <a:ext cx="32220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MemoryInjectionMiddleware — 记忆注入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15752" y="3431828"/>
            <a:ext cx="3247861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自动携带用户上下文与历史偏好，实现个性化交互体验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0101" y="3817144"/>
            <a:ext cx="8483798" cy="645616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802" y="39621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6120" y="4044553"/>
            <a:ext cx="121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15752" y="3944094"/>
            <a:ext cx="36861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SummarizationMiddleware — 自动摘要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5752" y="4178945"/>
            <a:ext cx="3711928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长对话智能压缩，保留关键信息，控制 Token 消耗，提升响应效率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可扩展的数据采集插件系统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9350" y="828675"/>
            <a:ext cx="3429000" cy="830312"/>
          </a:xfrm>
          <a:prstGeom prst="roundRect">
            <a:avLst>
              <a:gd name="adj" fmla="val 6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955625"/>
            <a:ext cx="31866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一键生成插件代码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1206401"/>
            <a:ext cx="318668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Skill 从 TuShare 文档自动生成插件，快速扩展新数据源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9350" y="1760488"/>
            <a:ext cx="3429000" cy="830312"/>
          </a:xfrm>
          <a:prstGeom prst="roundRect">
            <a:avLst>
              <a:gd name="adj" fmla="val 6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1887438"/>
            <a:ext cx="31866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ETL 流程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750" y="2138214"/>
            <a:ext cx="318668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数据采集 → 清洗 → 校验 → 入库，每个插件含完整管道处理逻辑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9350" y="2692301"/>
            <a:ext cx="3429000" cy="830312"/>
          </a:xfrm>
          <a:prstGeom prst="roundRect">
            <a:avLst>
              <a:gd name="adj" fmla="val 6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1750" y="2819251"/>
            <a:ext cx="31866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统一接口暴露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1750" y="3070027"/>
            <a:ext cx="318668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REST API + MCP Tool 双通道，供 AI Agent 直接调用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86051" y="828675"/>
            <a:ext cx="4978598" cy="1787723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38451" y="955625"/>
            <a:ext cx="1743521" cy="257175"/>
          </a:xfrm>
          <a:prstGeom prst="roundRect">
            <a:avLst>
              <a:gd name="adj" fmla="val 14815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39952" y="993725"/>
            <a:ext cx="15713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股数据 (TuShare Pro)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38451" y="1289000"/>
            <a:ext cx="4673798" cy="522238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305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日线 OHLCV、复权因子、涨跌停数据</a:t>
            </a:r>
            <a:endParaRPr lang="en-US" sz="900" dirty="0"/>
          </a:p>
          <a:p>
            <a:pPr algn="l" marL="82550" indent="-82550">
              <a:lnSpc>
                <a:spcPts val="1305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财务报表：利润表 / 资产负债表 / 现金流量表</a:t>
            </a:r>
            <a:endParaRPr lang="en-US" sz="900" dirty="0"/>
          </a:p>
          <a:p>
            <a:pPr algn="l" marL="82550" indent="-82550">
              <a:lnSpc>
                <a:spcPts val="1305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交易日历、股票基本信息、PE/PB 指标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86051" y="2717899"/>
            <a:ext cx="4978598" cy="1787723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38451" y="2844850"/>
            <a:ext cx="1610320" cy="257175"/>
          </a:xfrm>
          <a:prstGeom prst="roundRect">
            <a:avLst>
              <a:gd name="adj" fmla="val 14815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39952" y="2882950"/>
            <a:ext cx="1435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港股 / ETF / 指数 / 实时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38451" y="3178225"/>
            <a:ext cx="4673798" cy="522238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305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港股日线 (AKShare，2700+ 只)</a:t>
            </a:r>
            <a:endParaRPr lang="en-US" sz="900" dirty="0"/>
          </a:p>
          <a:p>
            <a:pPr algn="l" marL="82550" indent="-82550">
              <a:lnSpc>
                <a:spcPts val="1305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ETF 与指数基金全量数据</a:t>
            </a:r>
            <a:endParaRPr lang="en-US" sz="900" dirty="0"/>
          </a:p>
          <a:p>
            <a:pPr algn="l" marL="82550" indent="-82550">
              <a:lnSpc>
                <a:spcPts val="1305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龙虎榜 / 机构席位 / 实时行情推送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86051" y="4607123"/>
            <a:ext cx="4978598" cy="383977"/>
          </a:xfrm>
          <a:prstGeom prst="roundRect">
            <a:avLst>
              <a:gd name="adj" fmla="val 13230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09864" y="4607123"/>
            <a:ext cx="0" cy="383977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39814" y="4708624"/>
            <a:ext cx="47186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77+ 个数据采集插件</a:t>
            </a:r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支持多数据源 · 可无限扩展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5452"/>
          </a:xfrm>
          <a:prstGeom prst="rect">
            <a:avLst/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系统技术栈与架构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1026468"/>
            <a:ext cx="1701701" cy="453926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7052" y="1153418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06501" y="933152"/>
            <a:ext cx="6832699" cy="6405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09651" y="1060103"/>
            <a:ext cx="6554926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TypeScript + TDesign (企业 UI 组件) + ECharts (交互式图表) + Pinia (状态管理) — 20+ 功能页面的 SPA 应用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4800" y="1743224"/>
            <a:ext cx="1701701" cy="453926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37052" y="1870174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06501" y="1649909"/>
            <a:ext cx="6832699" cy="6405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09651" y="1776859"/>
            <a:ext cx="6554926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3.11+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FastAPI (异步 Web 框架) / LangGraph (多 Agent 编排) / DeepAgents / Function Calling / Pydantic 数据校验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4800" y="2459980"/>
            <a:ext cx="1701701" cy="453926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7052" y="2586930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06501" y="2366665"/>
            <a:ext cx="6832699" cy="6405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09651" y="2493615"/>
            <a:ext cx="6554926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列式存储，月度分区，高性能时序数据分析，ReplacingMergeTree 去重，适合海量金融数据查询与聚合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4800" y="3176736"/>
            <a:ext cx="1701701" cy="453926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4185" y="3303687"/>
            <a:ext cx="5829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06501" y="3083421"/>
            <a:ext cx="6832699" cy="6405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09651" y="3210371"/>
            <a:ext cx="6554926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(会话缓存、数据缓存、异步任务队列) + Docker Compose 容器化部署 + APScheduler 定时任务调度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4800" y="3893493"/>
            <a:ext cx="1701701" cy="45392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0637" y="4020443"/>
            <a:ext cx="6500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能力层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06501" y="3800177"/>
            <a:ext cx="6832699" cy="6405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209651" y="3927128"/>
            <a:ext cx="6554926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/ 国产大模型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(Kimi 等 OpenAI 兼容接口) + Function Calling + RAG 知识库 (可选 WeKnora) + AI 策略代码生成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4800" y="4516934"/>
            <a:ext cx="1701701" cy="45392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64185" y="4643884"/>
            <a:ext cx="5829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可观测性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06501" y="4520208"/>
            <a:ext cx="6832699" cy="44722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209651" y="4647158"/>
            <a:ext cx="655492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 调用链路追踪、Token 统计、性能分析、Agent 执行可视化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5452"/>
          </a:xfrm>
          <a:prstGeom prst="rect">
            <a:avLst/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丰富的功能模块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9350" y="933152"/>
            <a:ext cx="3085802" cy="1006971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9350" y="956965"/>
            <a:ext cx="3085802" cy="0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051" y="1133177"/>
            <a:ext cx="2785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智能选股系统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051" y="1437977"/>
            <a:ext cx="2785009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多维度筛选（PE/PB/市值/涨跌幅/换手率）+ AI 辅助选股条件自然语言生成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92103" y="933152"/>
            <a:ext cx="3085802" cy="1006971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92103" y="956965"/>
            <a:ext cx="3085802" cy="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9804" y="1133177"/>
            <a:ext cx="2785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专业行情分析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69804" y="1437977"/>
            <a:ext cx="2785009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交互式 K 线图 + 技术指标 (MA/MACD/RSI/BOLL/KDJ) + 趋势与估值分析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9350" y="2067074"/>
            <a:ext cx="3085802" cy="1006971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79350" y="2090886"/>
            <a:ext cx="3085802" cy="0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051" y="2267099"/>
            <a:ext cx="2785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投资组合管理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051" y="2571899"/>
            <a:ext cx="2785009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持仓跟踪 · 风险分析（波动率/最大回撤）· 收益归因 · AI 定期诊断报告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92103" y="2067074"/>
            <a:ext cx="3085802" cy="1006971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492103" y="2090886"/>
            <a:ext cx="3085802" cy="0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9804" y="2267099"/>
            <a:ext cx="2785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策略回测系统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69804" y="2571899"/>
            <a:ext cx="2785009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多策略模板（均线/动量/价值/海龟）+ 参数优化 + 多 AI Agent 竞技对抗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9350" y="3200995"/>
            <a:ext cx="3085802" cy="1006971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79350" y="3224808"/>
            <a:ext cx="3085802" cy="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051" y="3401020"/>
            <a:ext cx="2785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量化选股引擎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051" y="3705820"/>
            <a:ext cx="2785009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多因子模型初筛 + RPS 相对强度排名 + 综合评分 + 自动交易信号生成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92103" y="3200995"/>
            <a:ext cx="3085802" cy="1006971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492103" y="3224808"/>
            <a:ext cx="3085802" cy="0"/>
          </a:xfrm>
          <a:prstGeom prst="line">
            <a:avLst/>
          </a:prstGeom>
          <a:noFill/>
          <a:ln w="47625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9804" y="3401020"/>
            <a:ext cx="2785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财报分析与资讯中心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69804" y="3705820"/>
            <a:ext cx="2785009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双模式分析（规则引擎秒级 + LLM 深度分析）+ 新闻情绪分析 + 热点追踪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开放集成能力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9350" y="828675"/>
            <a:ext cx="3082826" cy="825698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3163" y="828675"/>
            <a:ext cx="0" cy="825698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9375" y="955625"/>
            <a:ext cx="27850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集成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9375" y="1219051"/>
            <a:ext cx="278500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Claude Code、Cursor 等 AI IDE 直接调用股票数据和工具，Streamable HTTP 协议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89127" y="828675"/>
            <a:ext cx="3082826" cy="825698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12939" y="828675"/>
            <a:ext cx="0" cy="825698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9152" y="955625"/>
            <a:ext cx="27850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API Gateway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89152" y="1180951"/>
            <a:ext cx="278500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 HTTP 接口 + API Key 认证 + 速率限制 (60/min) + 用量追踪，77 个插件按需开放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9350" y="1781324"/>
            <a:ext cx="3082826" cy="825698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3163" y="1781324"/>
            <a:ext cx="0" cy="825698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375" y="1908274"/>
            <a:ext cx="27850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PicoClaw 微信联动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375" y="2171700"/>
            <a:ext cx="278500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扫码绑定微信，随时查股、接收行情推送、AI 投顾工作流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89127" y="1781324"/>
            <a:ext cx="3082826" cy="825698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12939" y="1781324"/>
            <a:ext cx="0" cy="825698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9152" y="1908274"/>
            <a:ext cx="27850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工具链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89152" y="2171700"/>
            <a:ext cx="278500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/ doctor / server / ingest-daily / backfill / run-plugin 全覆盖命令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9350" y="2733973"/>
            <a:ext cx="3082826" cy="825698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03163" y="2733973"/>
            <a:ext cx="0" cy="82569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375" y="2860923"/>
            <a:ext cx="27850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一键部署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9375" y="3124349"/>
            <a:ext cx="278500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 启动 ClickHouse+Redis+后端+前端，支持一键部署与本地开发两种模式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项目结构与部署方式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9350" y="1127075"/>
            <a:ext cx="45720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9350" y="828675"/>
            <a:ext cx="4663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项目目录结构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9350" y="1238101"/>
            <a:ext cx="4572000" cy="2001887"/>
          </a:xfrm>
          <a:prstGeom prst="roundRect">
            <a:avLst>
              <a:gd name="adj" fmla="val 25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051" y="1390501"/>
            <a:ext cx="430093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stock_datasource/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051" y="1579066"/>
            <a:ext cx="430093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agents/       — 18 个专业 Agent + 中间件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051" y="1767632"/>
            <a:ext cx="430093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plugins/      — 77 个数据采集插件 (ETL)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051" y="1956197"/>
            <a:ext cx="430093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      — 28 个 FastAPI 功能模块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051" y="2144762"/>
            <a:ext cx="430093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services/     — MCP Server / 数据采集 / 队列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051" y="2333327"/>
            <a:ext cx="430093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     — Vue 3 前端 (20+ 页面)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051" y="2521893"/>
            <a:ext cx="430093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strategies/   — 内置 + AI 生成的量化策略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051" y="2710458"/>
            <a:ext cx="430093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core/         — 插件管理器 / 任务运行器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051" y="2899023"/>
            <a:ext cx="430093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cli.py        — 命令行工具入口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54501" y="828675"/>
            <a:ext cx="3810149" cy="862757"/>
          </a:xfrm>
          <a:prstGeom prst="roundRect">
            <a:avLst>
              <a:gd name="adj" fmla="val 58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54501" y="847725"/>
            <a:ext cx="3810149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6901" y="993725"/>
            <a:ext cx="35754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一键部署（推荐）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06901" y="1244501"/>
            <a:ext cx="35754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cli.py setup → server start --docker --with-infra。一键启动全部服务，交互式配置向导自动验证依赖连通性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54501" y="1792932"/>
            <a:ext cx="3810149" cy="862757"/>
          </a:xfrm>
          <a:prstGeom prst="roundRect">
            <a:avLst>
              <a:gd name="adj" fmla="val 58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1299" dir="378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54501" y="1811982"/>
            <a:ext cx="3810149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6901" y="1957983"/>
            <a:ext cx="35754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本地开发部署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6901" y="2208758"/>
            <a:ext cx="35754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启动基础设施 + 本地后端 API + Vite 前端。适合开发调试与功能迭代场景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54501" y="2757190"/>
            <a:ext cx="3810149" cy="501551"/>
          </a:xfrm>
          <a:prstGeom prst="roundRect">
            <a:avLst>
              <a:gd name="adj" fmla="val 10129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45889" y="2846040"/>
            <a:ext cx="36273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</a:t>
            </a:r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开源贡献欢迎 · GitHub: Yourdaylight/stock_datasource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A股赛博操盘手 - 项目介绍</dc:title>
  <dc:subject>AI-Native A-Share Investment Assistant</dc:subject>
  <dc:creator>stock_datasource</dc:creator>
  <cp:lastModifiedBy>stock_datasource</cp:lastModifiedBy>
  <cp:revision>1</cp:revision>
  <dcterms:created xsi:type="dcterms:W3CDTF">2026-04-16T07:35:28Z</dcterms:created>
  <dcterms:modified xsi:type="dcterms:W3CDTF">2026-04-16T07:35:28Z</dcterms:modified>
</cp:coreProperties>
</file>